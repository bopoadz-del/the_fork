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omments/modernComment_7FFFEEE3_54BA2986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147479267" r:id="rId5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CB57D27-8ED0-445D-F801-5949ECAC824B}" name="Clive Walsh" initials="CW" userId="S::CWalsh@diriyah.sa::b9a6b13f-694e-41a6-a008-41530566e33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174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DDC00F-5144-4DDA-8C5A-91AB17E54780}" v="1" dt="2025-07-28T09:43:24.37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1239" autoAdjust="0"/>
  </p:normalViewPr>
  <p:slideViewPr>
    <p:cSldViewPr snapToGrid="0">
      <p:cViewPr>
        <p:scale>
          <a:sx n="104" d="100"/>
          <a:sy n="104" d="100"/>
        </p:scale>
        <p:origin x="-3152" y="-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ive Walsh" userId="b9a6b13f-694e-41a6-a008-41530566e331" providerId="ADAL" clId="{5CDDC00F-5144-4DDA-8C5A-91AB17E54780}"/>
    <pc:docChg chg="custSel modSld">
      <pc:chgData name="Clive Walsh" userId="b9a6b13f-694e-41a6-a008-41530566e331" providerId="ADAL" clId="{5CDDC00F-5144-4DDA-8C5A-91AB17E54780}" dt="2025-07-29T04:47:56.294" v="39" actId="692"/>
      <pc:docMkLst>
        <pc:docMk/>
      </pc:docMkLst>
      <pc:sldChg chg="addSp delSp modSp mod">
        <pc:chgData name="Clive Walsh" userId="b9a6b13f-694e-41a6-a008-41530566e331" providerId="ADAL" clId="{5CDDC00F-5144-4DDA-8C5A-91AB17E54780}" dt="2025-07-29T04:47:56.294" v="39" actId="692"/>
        <pc:sldMkLst>
          <pc:docMk/>
          <pc:sldMk cId="1421486470" sldId="2147479267"/>
        </pc:sldMkLst>
        <pc:spChg chg="add mod">
          <ac:chgData name="Clive Walsh" userId="b9a6b13f-694e-41a6-a008-41530566e331" providerId="ADAL" clId="{5CDDC00F-5144-4DDA-8C5A-91AB17E54780}" dt="2025-07-29T04:43:55.517" v="9" actId="207"/>
          <ac:spMkLst>
            <pc:docMk/>
            <pc:sldMk cId="1421486470" sldId="2147479267"/>
            <ac:spMk id="45" creationId="{93F82A8C-DFFB-FEFA-5B96-5F4DB5DC9D23}"/>
          </ac:spMkLst>
        </pc:spChg>
        <pc:spChg chg="add mod">
          <ac:chgData name="Clive Walsh" userId="b9a6b13f-694e-41a6-a008-41530566e331" providerId="ADAL" clId="{5CDDC00F-5144-4DDA-8C5A-91AB17E54780}" dt="2025-07-29T04:43:59.800" v="10" actId="207"/>
          <ac:spMkLst>
            <pc:docMk/>
            <pc:sldMk cId="1421486470" sldId="2147479267"/>
            <ac:spMk id="46" creationId="{FF592A2D-1420-1555-0585-E30995FA6D99}"/>
          </ac:spMkLst>
        </pc:spChg>
        <pc:cxnChg chg="add del">
          <ac:chgData name="Clive Walsh" userId="b9a6b13f-694e-41a6-a008-41530566e331" providerId="ADAL" clId="{5CDDC00F-5144-4DDA-8C5A-91AB17E54780}" dt="2025-07-28T09:14:52.820" v="1" actId="478"/>
          <ac:cxnSpMkLst>
            <pc:docMk/>
            <pc:sldMk cId="1421486470" sldId="2147479267"/>
            <ac:cxnSpMk id="25" creationId="{05950FB3-5382-D97B-3643-D92D02793552}"/>
          </ac:cxnSpMkLst>
        </pc:cxnChg>
        <pc:cxnChg chg="add mod">
          <ac:chgData name="Clive Walsh" userId="b9a6b13f-694e-41a6-a008-41530566e331" providerId="ADAL" clId="{5CDDC00F-5144-4DDA-8C5A-91AB17E54780}" dt="2025-07-29T04:44:23.822" v="15" actId="692"/>
          <ac:cxnSpMkLst>
            <pc:docMk/>
            <pc:sldMk cId="1421486470" sldId="2147479267"/>
            <ac:cxnSpMk id="37" creationId="{AEA96931-4414-F0D6-A8FA-1D4EBC9ABC5E}"/>
          </ac:cxnSpMkLst>
        </pc:cxnChg>
        <pc:cxnChg chg="add mod">
          <ac:chgData name="Clive Walsh" userId="b9a6b13f-694e-41a6-a008-41530566e331" providerId="ADAL" clId="{5CDDC00F-5144-4DDA-8C5A-91AB17E54780}" dt="2025-07-29T04:44:50.277" v="29" actId="692"/>
          <ac:cxnSpMkLst>
            <pc:docMk/>
            <pc:sldMk cId="1421486470" sldId="2147479267"/>
            <ac:cxnSpMk id="44" creationId="{9D35B4F3-97C3-1A96-4608-2E9DD17C6BBD}"/>
          </ac:cxnSpMkLst>
        </pc:cxnChg>
        <pc:cxnChg chg="add mod">
          <ac:chgData name="Clive Walsh" userId="b9a6b13f-694e-41a6-a008-41530566e331" providerId="ADAL" clId="{5CDDC00F-5144-4DDA-8C5A-91AB17E54780}" dt="2025-07-29T04:47:56.294" v="39" actId="692"/>
          <ac:cxnSpMkLst>
            <pc:docMk/>
            <pc:sldMk cId="1421486470" sldId="2147479267"/>
            <ac:cxnSpMk id="48" creationId="{3931439B-7038-C57C-AA86-65211EC357BE}"/>
          </ac:cxnSpMkLst>
        </pc:cxnChg>
      </pc:sldChg>
    </pc:docChg>
  </pc:docChgLst>
</pc:chgInfo>
</file>

<file path=ppt/comments/modernComment_7FFFEEE3_54BA298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0114D1B-8312-47CC-A78A-6596D0E6755C}" authorId="{3CB57D27-8ED0-445D-F801-5949ECAC824B}" created="2025-07-28T09:41:53.796">
    <pc:sldMkLst xmlns:pc="http://schemas.microsoft.com/office/powerpoint/2013/main/command">
      <pc:docMk/>
      <pc:sldMk cId="1421486470" sldId="2147479267"/>
    </pc:sldMkLst>
    <p188:txBody>
      <a:bodyPr/>
      <a:lstStyle/>
      <a:p>
        <a:r>
          <a:rPr lang="en-US"/>
          <a:t>Permit Receipt is 15 days minimum delayed</a:t>
        </a:r>
      </a:p>
    </p188:txBody>
  </p188:cm>
  <p188:cm id="{766AB6E3-76CE-458D-98AF-A19D2270946A}" authorId="{3CB57D27-8ED0-445D-F801-5949ECAC824B}" created="2025-07-28T09:44:05.791">
    <pc:sldMkLst xmlns:pc="http://schemas.microsoft.com/office/powerpoint/2013/main/command">
      <pc:docMk/>
      <pc:sldMk cId="1421486470" sldId="2147479267"/>
    </pc:sldMkLst>
    <p188:txBody>
      <a:bodyPr/>
      <a:lstStyle/>
      <a:p>
        <a:r>
          <a:rPr lang="en-US"/>
          <a:t>24 Days for backfilling will need to be completed in 10 days to maintain the delivery </a:t>
        </a:r>
      </a:p>
    </p188:txBody>
  </p188:cm>
  <p188:cm id="{6D0A7E13-1E2E-488A-A54C-38CA3F66449B}" authorId="{3CB57D27-8ED0-445D-F801-5949ECAC824B}" created="2025-07-28T09:44:54.804">
    <pc:sldMkLst xmlns:pc="http://schemas.microsoft.com/office/powerpoint/2013/main/command">
      <pc:docMk/>
      <pc:sldMk cId="1421486470" sldId="2147479267"/>
    </pc:sldMkLst>
    <p188:txBody>
      <a:bodyPr/>
      <a:lstStyle/>
      <a:p>
        <a:r>
          <a:rPr lang="en-US"/>
          <a:t>Meanwhile the scope has increase with 2 additional roundabouts on the original plan and link road </a:t>
        </a:r>
      </a:p>
    </p188:txBody>
  </p188:cm>
  <p188:cm id="{E78043E6-1877-40EC-8D59-2FC42E5D4E7E}" authorId="{3CB57D27-8ED0-445D-F801-5949ECAC824B}" created="2025-07-29T04:47:01.99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421486470" sldId="2147479267"/>
      <ac:spMk id="18" creationId="{98A39F6D-7D68-CFD8-3DFE-696D6536E6C5}"/>
    </ac:deMkLst>
    <p188:txBody>
      <a:bodyPr/>
      <a:lstStyle/>
      <a:p>
        <a:r>
          <a:rPr lang="en-US"/>
          <a:t>We need to be finishing by 20th August latest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28" tIns="45715" rIns="91428" bIns="45715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28" tIns="45715" rIns="91428" bIns="45715" rtlCol="0"/>
          <a:lstStyle>
            <a:lvl1pPr algn="r">
              <a:defRPr sz="1200"/>
            </a:lvl1pPr>
          </a:lstStyle>
          <a:p>
            <a:fld id="{E505DB31-E7F6-417C-B9CC-4F8AD9AF1555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8" tIns="45715" rIns="91428" bIns="4571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28" tIns="45715" rIns="91428" bIns="4571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5"/>
            <a:ext cx="2945659" cy="498055"/>
          </a:xfrm>
          <a:prstGeom prst="rect">
            <a:avLst/>
          </a:prstGeom>
        </p:spPr>
        <p:txBody>
          <a:bodyPr vert="horz" lIns="91428" tIns="45715" rIns="91428" bIns="45715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5"/>
            <a:ext cx="2945659" cy="498055"/>
          </a:xfrm>
          <a:prstGeom prst="rect">
            <a:avLst/>
          </a:prstGeom>
        </p:spPr>
        <p:txBody>
          <a:bodyPr vert="horz" lIns="91428" tIns="45715" rIns="91428" bIns="45715" rtlCol="0" anchor="b"/>
          <a:lstStyle>
            <a:lvl1pPr algn="r">
              <a:defRPr sz="1200"/>
            </a:lvl1pPr>
          </a:lstStyle>
          <a:p>
            <a:fld id="{BEB37725-46FA-43A8-B52C-EFEE2E2B5A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392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_Title Sllide 1 copy 1">
    <p:bg>
      <p:bgPr>
        <a:solidFill>
          <a:srgbClr val="DBBC9A">
            <a:alpha val="6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Picture 134" descr="A logo with a palm tree and mountains&#10;&#10;Description automatically generated">
            <a:extLst>
              <a:ext uri="{FF2B5EF4-FFF2-40B4-BE49-F238E27FC236}">
                <a16:creationId xmlns:a16="http://schemas.microsoft.com/office/drawing/2014/main" id="{0BA48651-99F9-0EDE-8864-F8511CB642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2335" y="32974"/>
            <a:ext cx="528282" cy="527956"/>
          </a:xfrm>
          <a:prstGeom prst="rect">
            <a:avLst/>
          </a:prstGeom>
        </p:spPr>
      </p:pic>
      <p:sp>
        <p:nvSpPr>
          <p:cNvPr id="230" name="Rectangle 229">
            <a:extLst>
              <a:ext uri="{FF2B5EF4-FFF2-40B4-BE49-F238E27FC236}">
                <a16:creationId xmlns:a16="http://schemas.microsoft.com/office/drawing/2014/main" id="{88D4D5C7-49D3-6E16-DBFB-680BA8DBAB6D}"/>
              </a:ext>
            </a:extLst>
          </p:cNvPr>
          <p:cNvSpPr/>
          <p:nvPr userDrawn="1"/>
        </p:nvSpPr>
        <p:spPr>
          <a:xfrm>
            <a:off x="2225615" y="676046"/>
            <a:ext cx="9642562" cy="324000"/>
          </a:xfrm>
          <a:prstGeom prst="rect">
            <a:avLst/>
          </a:prstGeom>
          <a:solidFill>
            <a:srgbClr val="C17250"/>
          </a:solidFill>
          <a:ln w="9525" cap="rnd">
            <a:solidFill>
              <a:schemeClr val="bg1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65536" tIns="32768" rIns="65536" bIns="32768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indent="0" algn="ctr" defTabSz="655279" fontAlgn="auto">
              <a:lnSpc>
                <a:spcPct val="90000"/>
              </a:lnSpc>
              <a:spcBef>
                <a:spcPts val="0"/>
              </a:spcBef>
              <a:spcAft>
                <a:spcPts val="716"/>
              </a:spcAft>
              <a:buClrTx/>
              <a:buSzTx/>
              <a:buFontTx/>
              <a:buNone/>
              <a:tabLst/>
            </a:pPr>
            <a:r>
              <a:rPr kumimoji="0" lang="en-US" sz="1422" b="1" i="0" u="none" strike="noStrike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sym typeface="+mn-lt"/>
              </a:rPr>
              <a:t>July / August - 2025</a:t>
            </a:r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D65150D2-E31F-E2A1-A885-3B26D36BD1BF}"/>
              </a:ext>
            </a:extLst>
          </p:cNvPr>
          <p:cNvSpPr/>
          <p:nvPr userDrawn="1"/>
        </p:nvSpPr>
        <p:spPr>
          <a:xfrm>
            <a:off x="11868162" y="762405"/>
            <a:ext cx="323838" cy="1006010"/>
          </a:xfrm>
          <a:prstGeom prst="rightArrow">
            <a:avLst/>
          </a:prstGeom>
          <a:solidFill>
            <a:schemeClr val="accent4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5F67BF6-0838-70BC-3C35-2FBD7271F8A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504468333"/>
              </p:ext>
            </p:extLst>
          </p:nvPr>
        </p:nvGraphicFramePr>
        <p:xfrm>
          <a:off x="323823" y="1000046"/>
          <a:ext cx="11544322" cy="4573895"/>
        </p:xfrm>
        <a:graphic>
          <a:graphicData uri="http://schemas.openxmlformats.org/drawingml/2006/table">
            <a:tbl>
              <a:tblPr/>
              <a:tblGrid>
                <a:gridCol w="1922206">
                  <a:extLst>
                    <a:ext uri="{9D8B030D-6E8A-4147-A177-3AD203B41FA5}">
                      <a16:colId xmlns:a16="http://schemas.microsoft.com/office/drawing/2014/main" val="1022832945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4186777775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559745045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946730513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3119697414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3755453125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1451006720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2685919484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939269305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2094605296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2880072310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2677496858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1245700383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4044646830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3381331338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1946168847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1099589730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3507628639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2678089274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3006834812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306267086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2855246137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3261614743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1508880764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1596199955"/>
                    </a:ext>
                  </a:extLst>
                </a:gridCol>
                <a:gridCol w="152653">
                  <a:extLst>
                    <a:ext uri="{9D8B030D-6E8A-4147-A177-3AD203B41FA5}">
                      <a16:colId xmlns:a16="http://schemas.microsoft.com/office/drawing/2014/main" val="3776320797"/>
                    </a:ext>
                  </a:extLst>
                </a:gridCol>
                <a:gridCol w="152811">
                  <a:extLst>
                    <a:ext uri="{9D8B030D-6E8A-4147-A177-3AD203B41FA5}">
                      <a16:colId xmlns:a16="http://schemas.microsoft.com/office/drawing/2014/main" val="195645074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1745088307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3804188303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4282297688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3882455859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3231195351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2014177255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2673119148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594538570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464337561"/>
                    </a:ext>
                  </a:extLst>
                </a:gridCol>
                <a:gridCol w="167434">
                  <a:extLst>
                    <a:ext uri="{9D8B030D-6E8A-4147-A177-3AD203B41FA5}">
                      <a16:colId xmlns:a16="http://schemas.microsoft.com/office/drawing/2014/main" val="1503082966"/>
                    </a:ext>
                  </a:extLst>
                </a:gridCol>
                <a:gridCol w="138030">
                  <a:extLst>
                    <a:ext uri="{9D8B030D-6E8A-4147-A177-3AD203B41FA5}">
                      <a16:colId xmlns:a16="http://schemas.microsoft.com/office/drawing/2014/main" val="3745123504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1336894006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2130092500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325993912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2992863717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920562030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2083572843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2921086245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1581051434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2280438310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2632674108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793819450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1628366989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2303841630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1563519073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2704059534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4260958200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2006913434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3031312713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415000231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1552424364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1184474788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3087369582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344456014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732207685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3743559608"/>
                    </a:ext>
                  </a:extLst>
                </a:gridCol>
                <a:gridCol w="152732">
                  <a:extLst>
                    <a:ext uri="{9D8B030D-6E8A-4147-A177-3AD203B41FA5}">
                      <a16:colId xmlns:a16="http://schemas.microsoft.com/office/drawing/2014/main" val="1999507373"/>
                    </a:ext>
                  </a:extLst>
                </a:gridCol>
              </a:tblGrid>
              <a:tr h="200250">
                <a:tc>
                  <a:txBody>
                    <a:bodyPr/>
                    <a:lstStyle/>
                    <a:p>
                      <a:pPr algn="l" fontAlgn="ctr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65" marR="1565" marT="1565" marB="0" anchor="ctr">
                    <a:lnL>
                      <a:noFill/>
                    </a:lnL>
                    <a:lnR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WEEK 1</a:t>
                      </a:r>
                    </a:p>
                  </a:txBody>
                  <a:tcPr marL="1565" marR="1565" marT="1565" marB="0" anchor="ctr">
                    <a:lnL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WEEK 2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WEEK 3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WEEK 4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WEEK 5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WEEK 6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WEEK 7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WEEK 8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WEEK 9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8399046"/>
                  </a:ext>
                </a:extLst>
              </a:tr>
              <a:tr h="277619">
                <a:tc>
                  <a:txBody>
                    <a:bodyPr/>
                    <a:lstStyle/>
                    <a:p>
                      <a:pPr algn="l" fontAlgn="ctr"/>
                      <a:endParaRPr lang="en-US" sz="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65" marR="1565" marT="1565" marB="0" anchor="ctr">
                    <a:lnL>
                      <a:noFill/>
                    </a:lnL>
                    <a:lnR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TUE</a:t>
                      </a:r>
                      <a:b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01</a:t>
                      </a:r>
                    </a:p>
                  </a:txBody>
                  <a:tcPr marL="1565" marR="1565" marT="1565" marB="0" anchor="ctr">
                    <a:lnL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WED </a:t>
                      </a:r>
                    </a:p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02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THU</a:t>
                      </a:r>
                    </a:p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03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5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SAT</a:t>
                      </a:r>
                    </a:p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05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SUN</a:t>
                      </a:r>
                    </a:p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06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MON</a:t>
                      </a:r>
                    </a:p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07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TUE</a:t>
                      </a:r>
                      <a:b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08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WED </a:t>
                      </a:r>
                    </a:p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09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THU</a:t>
                      </a:r>
                    </a:p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5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SAT</a:t>
                      </a:r>
                    </a:p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SUN</a:t>
                      </a:r>
                    </a:p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MON</a:t>
                      </a:r>
                    </a:p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TUE</a:t>
                      </a:r>
                      <a:b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WED </a:t>
                      </a:r>
                    </a:p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THU</a:t>
                      </a:r>
                    </a:p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5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SAT</a:t>
                      </a:r>
                    </a:p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SUN</a:t>
                      </a:r>
                    </a:p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MON</a:t>
                      </a:r>
                    </a:p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TUE</a:t>
                      </a:r>
                      <a:b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WED </a:t>
                      </a:r>
                    </a:p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THU</a:t>
                      </a:r>
                    </a:p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5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SAT</a:t>
                      </a:r>
                    </a:p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SUN</a:t>
                      </a:r>
                    </a:p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MON</a:t>
                      </a:r>
                    </a:p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TUE</a:t>
                      </a:r>
                      <a:b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WED </a:t>
                      </a:r>
                    </a:p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THU</a:t>
                      </a:r>
                    </a:p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5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SAT</a:t>
                      </a:r>
                    </a:p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02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SUN</a:t>
                      </a:r>
                    </a:p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03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MON</a:t>
                      </a:r>
                    </a:p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04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TUE</a:t>
                      </a:r>
                      <a:b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05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WED </a:t>
                      </a:r>
                    </a:p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06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THU</a:t>
                      </a:r>
                    </a:p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07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5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SAT</a:t>
                      </a:r>
                    </a:p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09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SUN</a:t>
                      </a:r>
                    </a:p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MON</a:t>
                      </a:r>
                    </a:p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TUE</a:t>
                      </a:r>
                      <a:b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WED </a:t>
                      </a:r>
                    </a:p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THU</a:t>
                      </a:r>
                    </a:p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5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SAT</a:t>
                      </a:r>
                    </a:p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SUN</a:t>
                      </a:r>
                    </a:p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MON</a:t>
                      </a:r>
                    </a:p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TUE</a:t>
                      </a:r>
                      <a:b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WED </a:t>
                      </a:r>
                    </a:p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THU</a:t>
                      </a:r>
                    </a:p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5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SAT</a:t>
                      </a:r>
                    </a:p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SUN</a:t>
                      </a:r>
                    </a:p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MON</a:t>
                      </a:r>
                    </a:p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TUE</a:t>
                      </a:r>
                      <a:b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WED </a:t>
                      </a:r>
                    </a:p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THU</a:t>
                      </a:r>
                    </a:p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5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SAT</a:t>
                      </a:r>
                    </a:p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SUN</a:t>
                      </a:r>
                    </a:p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MON</a:t>
                      </a:r>
                    </a:p>
                    <a:p>
                      <a:pPr algn="ctr" fontAlgn="ctr"/>
                      <a:r>
                        <a:rPr lang="en-US" sz="500" b="1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01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5029864"/>
                  </a:ext>
                </a:extLst>
              </a:tr>
              <a:tr h="4551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2463275"/>
                  </a:ext>
                </a:extLst>
              </a:tr>
              <a:tr h="4551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3989573"/>
                  </a:ext>
                </a:extLst>
              </a:tr>
              <a:tr h="4551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7139732"/>
                  </a:ext>
                </a:extLst>
              </a:tr>
              <a:tr h="4551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378696"/>
                  </a:ext>
                </a:extLst>
              </a:tr>
              <a:tr h="4551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2586486"/>
                  </a:ext>
                </a:extLst>
              </a:tr>
              <a:tr h="4551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3496572"/>
                  </a:ext>
                </a:extLst>
              </a:tr>
              <a:tr h="4551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4751650"/>
                  </a:ext>
                </a:extLst>
              </a:tr>
              <a:tr h="4551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5839449"/>
                  </a:ext>
                </a:extLst>
              </a:tr>
              <a:tr h="455114"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1565" marR="1565" marT="1565" marB="0" anchor="ctr">
                    <a:lnL w="6350" cap="flat" cmpd="sng" algn="ctr">
                      <a:solidFill>
                        <a:srgbClr val="9966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83944"/>
                  </a:ext>
                </a:extLst>
              </a:tr>
            </a:tbl>
          </a:graphicData>
        </a:graphic>
      </p:graphicFrame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1C0C383-3CA0-5E61-2544-F37F957C1E54}"/>
              </a:ext>
            </a:extLst>
          </p:cNvPr>
          <p:cNvCxnSpPr>
            <a:cxnSpLocks/>
          </p:cNvCxnSpPr>
          <p:nvPr userDrawn="1"/>
        </p:nvCxnSpPr>
        <p:spPr>
          <a:xfrm>
            <a:off x="194543" y="629603"/>
            <a:ext cx="11425957" cy="0"/>
          </a:xfrm>
          <a:prstGeom prst="line">
            <a:avLst/>
          </a:prstGeom>
          <a:noFill/>
          <a:ln w="15875" cap="flat">
            <a:solidFill>
              <a:srgbClr val="55152E"/>
            </a:solidFill>
            <a:prstDash val="solid"/>
            <a:round/>
          </a:ln>
          <a:effectLst/>
          <a:sp3d/>
        </p:spPr>
      </p:cxnSp>
      <p:sp>
        <p:nvSpPr>
          <p:cNvPr id="4" name="Title 2">
            <a:extLst>
              <a:ext uri="{FF2B5EF4-FFF2-40B4-BE49-F238E27FC236}">
                <a16:creationId xmlns:a16="http://schemas.microsoft.com/office/drawing/2014/main" id="{019947EE-2A65-02F7-3AC6-39B1101257B6}"/>
              </a:ext>
            </a:extLst>
          </p:cNvPr>
          <p:cNvSpPr txBox="1">
            <a:spLocks/>
          </p:cNvSpPr>
          <p:nvPr userDrawn="1"/>
        </p:nvSpPr>
        <p:spPr>
          <a:xfrm>
            <a:off x="129540" y="223477"/>
            <a:ext cx="9513224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txBody>
          <a:bodyPr wrap="square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600" b="0" i="0" u="none" strike="noStrike" kern="0" cap="none" spc="0" normalizeH="0" baseline="0">
                <a:ln>
                  <a:noFill/>
                </a:ln>
                <a:solidFill>
                  <a:srgbClr val="55152E"/>
                </a:solidFill>
                <a:effectLst/>
                <a:uLnTx/>
                <a:uFillTx/>
                <a:latin typeface="Calibri"/>
                <a:cs typeface="Calibri"/>
              </a:defRPr>
            </a:lvl1pPr>
            <a:lvl2pPr marL="0" marR="0" indent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0" i="0" u="none" strike="noStrike" cap="none" spc="-150" baseline="0">
                <a:solidFill>
                  <a:srgbClr val="000000"/>
                </a:solidFill>
                <a:uFillTx/>
                <a:latin typeface="Cairo"/>
                <a:ea typeface="Cairo"/>
                <a:cs typeface="Cairo"/>
              </a:defRPr>
            </a:lvl2pPr>
            <a:lvl3pPr marL="0" marR="0" indent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0" i="0" u="none" strike="noStrike" cap="none" spc="-150" baseline="0">
                <a:solidFill>
                  <a:srgbClr val="000000"/>
                </a:solidFill>
                <a:uFillTx/>
                <a:latin typeface="Cairo"/>
                <a:ea typeface="Cairo"/>
                <a:cs typeface="Cairo"/>
              </a:defRPr>
            </a:lvl3pPr>
            <a:lvl4pPr marL="0" marR="0" indent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0" i="0" u="none" strike="noStrike" cap="none" spc="-150" baseline="0">
                <a:solidFill>
                  <a:srgbClr val="000000"/>
                </a:solidFill>
                <a:uFillTx/>
                <a:latin typeface="Cairo"/>
                <a:ea typeface="Cairo"/>
                <a:cs typeface="Cairo"/>
              </a:defRPr>
            </a:lvl4pPr>
            <a:lvl5pPr marL="0" marR="0" indent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0" i="0" u="none" strike="noStrike" cap="none" spc="-150" baseline="0">
                <a:solidFill>
                  <a:srgbClr val="000000"/>
                </a:solidFill>
                <a:uFillTx/>
                <a:latin typeface="Cairo"/>
                <a:ea typeface="Cairo"/>
                <a:cs typeface="Cairo"/>
              </a:defRPr>
            </a:lvl5pPr>
            <a:lvl6pPr marL="0" marR="0" indent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0" i="0" u="none" strike="noStrike" cap="none" spc="-150" baseline="0">
                <a:solidFill>
                  <a:srgbClr val="000000"/>
                </a:solidFill>
                <a:uFillTx/>
                <a:latin typeface="Cairo"/>
                <a:ea typeface="Cairo"/>
                <a:cs typeface="Cairo"/>
              </a:defRPr>
            </a:lvl6pPr>
            <a:lvl7pPr marL="0" marR="0" indent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0" i="0" u="none" strike="noStrike" cap="none" spc="-150" baseline="0">
                <a:solidFill>
                  <a:srgbClr val="000000"/>
                </a:solidFill>
                <a:uFillTx/>
                <a:latin typeface="Cairo"/>
                <a:ea typeface="Cairo"/>
                <a:cs typeface="Cairo"/>
              </a:defRPr>
            </a:lvl7pPr>
            <a:lvl8pPr marL="0" marR="0" indent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0" i="0" u="none" strike="noStrike" cap="none" spc="-150" baseline="0">
                <a:solidFill>
                  <a:srgbClr val="000000"/>
                </a:solidFill>
                <a:uFillTx/>
                <a:latin typeface="Cairo"/>
                <a:ea typeface="Cairo"/>
                <a:cs typeface="Cairo"/>
              </a:defRPr>
            </a:lvl8pPr>
            <a:lvl9pPr marL="0" marR="0" indent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0" i="0" u="none" strike="noStrike" cap="none" spc="-150" baseline="0">
                <a:solidFill>
                  <a:srgbClr val="000000"/>
                </a:solidFill>
                <a:uFillTx/>
                <a:latin typeface="Cairo"/>
                <a:ea typeface="Cairo"/>
                <a:cs typeface="Cairo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55152E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Effra" panose="020B0603020203020204" pitchFamily="34" charset="0"/>
              </a:rPr>
              <a:t>PROGRAMME </a:t>
            </a:r>
            <a:r>
              <a:rPr lang="en-US" sz="1800" dirty="0">
                <a:ea typeface="Calibri"/>
                <a:sym typeface="Effra" panose="020B0603020203020204" pitchFamily="34" charset="0"/>
              </a:rPr>
              <a:t>– NORTHERN EAST DISTRICT – Link Road, North and South Platform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55152E"/>
              </a:solidFill>
              <a:effectLst/>
              <a:uLnTx/>
              <a:uFillTx/>
              <a:latin typeface="Calibri"/>
              <a:ea typeface="Calibri"/>
              <a:cs typeface="Calibri"/>
              <a:sym typeface="Effra" panose="020B06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117274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F96BC0-FE86-49F2-8A1E-ABB9BD308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50F31-A674-BB9E-F94E-9115940F2C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ADC57-01A6-7261-F6D3-56BCFE2C86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B31177-4688-44BD-AC62-6BA109840854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241AD0-DF65-4FCC-98B3-D51C497D4C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786FC-EC56-33A4-D7F2-72321EF511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080067-2B46-445F-8E29-7BAFFE0095F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073E01-A77B-9A15-3A62-A9035DB3C09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11620"/>
            <a:ext cx="217805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Information Classification: Internal</a:t>
            </a:r>
          </a:p>
        </p:txBody>
      </p:sp>
    </p:spTree>
    <p:extLst>
      <p:ext uri="{BB962C8B-B14F-4D97-AF65-F5344CB8AC3E}">
        <p14:creationId xmlns:p14="http://schemas.microsoft.com/office/powerpoint/2010/main" val="1638669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FEEE3_54BA298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57ABA5-8EC9-AFD3-95A9-236988AC6727}"/>
              </a:ext>
            </a:extLst>
          </p:cNvPr>
          <p:cNvSpPr txBox="1"/>
          <p:nvPr/>
        </p:nvSpPr>
        <p:spPr>
          <a:xfrm>
            <a:off x="11729311" y="6591054"/>
            <a:ext cx="381000" cy="184666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CF27A5-1A5B-48D3-A060-2758FFBB1ADD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iro"/>
                <a:ea typeface="+mn-ea"/>
                <a:cs typeface="Cairo"/>
                <a:sym typeface="Effra" panose="020B0603020203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iro"/>
              <a:ea typeface="+mn-ea"/>
              <a:cs typeface="Cairo"/>
              <a:sym typeface="Effra" panose="020B0603020203020204" pitchFamily="34" charset="0"/>
            </a:endParaRPr>
          </a:p>
        </p:txBody>
      </p:sp>
      <p:sp>
        <p:nvSpPr>
          <p:cNvPr id="3" name="Pentagon 33">
            <a:extLst>
              <a:ext uri="{FF2B5EF4-FFF2-40B4-BE49-F238E27FC236}">
                <a16:creationId xmlns:a16="http://schemas.microsoft.com/office/drawing/2014/main" id="{623AE1CD-5A2E-D219-EB04-5266555AF111}"/>
              </a:ext>
            </a:extLst>
          </p:cNvPr>
          <p:cNvSpPr/>
          <p:nvPr/>
        </p:nvSpPr>
        <p:spPr>
          <a:xfrm>
            <a:off x="2532867" y="1991505"/>
            <a:ext cx="591341" cy="152957"/>
          </a:xfrm>
          <a:prstGeom prst="homePlate">
            <a:avLst/>
          </a:prstGeom>
          <a:solidFill>
            <a:srgbClr val="55152E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1" kern="0" dirty="0">
                <a:solidFill>
                  <a:sysClr val="window" lastClr="FFFFFF"/>
                </a:solidFill>
                <a:latin typeface="Effra Light" panose="02000306080000020004" pitchFamily="2" charset="0"/>
                <a:ea typeface="Calibri"/>
                <a:cs typeface="Calibri"/>
              </a:rPr>
              <a:t>Package Prep</a:t>
            </a:r>
            <a:endParaRPr kumimoji="0" lang="en-US" sz="7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Effra Light" panose="02000306080000020004" pitchFamily="2" charset="0"/>
              <a:ea typeface="Calibri"/>
              <a:cs typeface="Calibri"/>
            </a:endParaRPr>
          </a:p>
        </p:txBody>
      </p:sp>
      <p:sp>
        <p:nvSpPr>
          <p:cNvPr id="4" name="Pentagon 33">
            <a:extLst>
              <a:ext uri="{FF2B5EF4-FFF2-40B4-BE49-F238E27FC236}">
                <a16:creationId xmlns:a16="http://schemas.microsoft.com/office/drawing/2014/main" id="{AEC79580-EBB4-B530-92C9-AC4A57990D05}"/>
              </a:ext>
            </a:extLst>
          </p:cNvPr>
          <p:cNvSpPr/>
          <p:nvPr/>
        </p:nvSpPr>
        <p:spPr>
          <a:xfrm>
            <a:off x="4072861" y="2431679"/>
            <a:ext cx="1851689" cy="163729"/>
          </a:xfrm>
          <a:prstGeom prst="homePlate">
            <a:avLst/>
          </a:prstGeom>
          <a:solidFill>
            <a:srgbClr val="55152E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1" kern="0" dirty="0">
                <a:solidFill>
                  <a:sysClr val="window" lastClr="FFFFFF"/>
                </a:solidFill>
                <a:latin typeface="Effra Light" panose="02000306080000020004" pitchFamily="2" charset="0"/>
                <a:ea typeface="Calibri"/>
                <a:cs typeface="Calibri"/>
              </a:rPr>
              <a:t>Utilities Removal</a:t>
            </a:r>
            <a:endParaRPr kumimoji="0" lang="en-US" sz="7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Effra Light" panose="02000306080000020004" pitchFamily="2" charset="0"/>
              <a:ea typeface="Calibri"/>
              <a:cs typeface="Calibri"/>
            </a:endParaRPr>
          </a:p>
        </p:txBody>
      </p:sp>
      <p:sp>
        <p:nvSpPr>
          <p:cNvPr id="5" name="Pentagon 67">
            <a:extLst>
              <a:ext uri="{FF2B5EF4-FFF2-40B4-BE49-F238E27FC236}">
                <a16:creationId xmlns:a16="http://schemas.microsoft.com/office/drawing/2014/main" id="{0218AC00-486D-E17C-2F84-59E9F5C8F8CA}"/>
              </a:ext>
            </a:extLst>
          </p:cNvPr>
          <p:cNvSpPr/>
          <p:nvPr/>
        </p:nvSpPr>
        <p:spPr>
          <a:xfrm>
            <a:off x="4231681" y="3076260"/>
            <a:ext cx="4269382" cy="146989"/>
          </a:xfrm>
          <a:prstGeom prst="homePlate">
            <a:avLst/>
          </a:prstGeom>
          <a:solidFill>
            <a:srgbClr val="D1744B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>
              <a:defRPr/>
            </a:pPr>
            <a:br>
              <a:rPr lang="en-US" sz="700" b="1" kern="0" dirty="0">
                <a:solidFill>
                  <a:sysClr val="window" lastClr="FFFFFF"/>
                </a:solidFill>
                <a:latin typeface="Effra Light" panose="02000306080000020004" pitchFamily="2" charset="0"/>
                <a:ea typeface="Calibri"/>
                <a:cs typeface="Calibri"/>
              </a:rPr>
            </a:br>
            <a:r>
              <a:rPr lang="en-US" sz="700" b="1" kern="0" dirty="0">
                <a:solidFill>
                  <a:sysClr val="window" lastClr="FFFFFF"/>
                </a:solidFill>
                <a:latin typeface="Effra Light" panose="02000306080000020004" pitchFamily="2" charset="0"/>
                <a:ea typeface="Calibri"/>
                <a:cs typeface="Calibri"/>
              </a:rPr>
              <a:t>Backfill Link Road </a:t>
            </a:r>
          </a:p>
          <a:p>
            <a:pPr algn="ctr">
              <a:defRPr/>
            </a:pPr>
            <a:endParaRPr kumimoji="0" lang="en-US" sz="7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Effra Light"/>
              <a:cs typeface="Calibri"/>
              <a:sym typeface="+mn-lt"/>
            </a:endParaRPr>
          </a:p>
        </p:txBody>
      </p:sp>
      <p:sp>
        <p:nvSpPr>
          <p:cNvPr id="7" name="Pentagon 38">
            <a:extLst>
              <a:ext uri="{FF2B5EF4-FFF2-40B4-BE49-F238E27FC236}">
                <a16:creationId xmlns:a16="http://schemas.microsoft.com/office/drawing/2014/main" id="{CE5ACC22-00E6-49AF-BFB6-5DC2A0053AFD}"/>
              </a:ext>
            </a:extLst>
          </p:cNvPr>
          <p:cNvSpPr/>
          <p:nvPr/>
        </p:nvSpPr>
        <p:spPr>
          <a:xfrm>
            <a:off x="8505252" y="4340781"/>
            <a:ext cx="2133592" cy="183228"/>
          </a:xfrm>
          <a:prstGeom prst="homePlate">
            <a:avLst/>
          </a:prstGeom>
          <a:solidFill>
            <a:srgbClr val="D1744B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Effra Light" panose="02000306080000020004" pitchFamily="2" charset="0"/>
                <a:ea typeface="Calibri"/>
                <a:cs typeface="Calibri"/>
              </a:rPr>
              <a:t>Backfill &amp; Subgrade Platform South </a:t>
            </a:r>
          </a:p>
        </p:txBody>
      </p:sp>
      <p:sp>
        <p:nvSpPr>
          <p:cNvPr id="8" name="Rectangle 7">
            <a:hlinkClick r:id="" action="ppaction://noaction"/>
            <a:extLst>
              <a:ext uri="{FF2B5EF4-FFF2-40B4-BE49-F238E27FC236}">
                <a16:creationId xmlns:a16="http://schemas.microsoft.com/office/drawing/2014/main" id="{FC1F87D3-4EBA-C5EF-663A-2E2A21ECD6FA}"/>
              </a:ext>
            </a:extLst>
          </p:cNvPr>
          <p:cNvSpPr/>
          <p:nvPr/>
        </p:nvSpPr>
        <p:spPr>
          <a:xfrm>
            <a:off x="308508" y="1418540"/>
            <a:ext cx="2198783" cy="27432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Effra"/>
                <a:ea typeface="+mn-ea"/>
                <a:cs typeface="Calibri"/>
              </a:rPr>
              <a:t>LINK ROAD </a:t>
            </a:r>
          </a:p>
        </p:txBody>
      </p:sp>
      <p:sp>
        <p:nvSpPr>
          <p:cNvPr id="9" name="Rectangle 8">
            <a:hlinkClick r:id="" action="ppaction://noaction"/>
            <a:extLst>
              <a:ext uri="{FF2B5EF4-FFF2-40B4-BE49-F238E27FC236}">
                <a16:creationId xmlns:a16="http://schemas.microsoft.com/office/drawing/2014/main" id="{46C9327F-CEEB-8314-6596-2AE062B4067E}"/>
              </a:ext>
            </a:extLst>
          </p:cNvPr>
          <p:cNvSpPr/>
          <p:nvPr/>
        </p:nvSpPr>
        <p:spPr>
          <a:xfrm>
            <a:off x="286281" y="1930771"/>
            <a:ext cx="2027261" cy="27432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dirty="0">
                <a:solidFill>
                  <a:srgbClr val="565656"/>
                </a:solidFill>
                <a:latin typeface="Effra"/>
                <a:cs typeface="Calibri"/>
              </a:rPr>
              <a:t>Prepare Package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Effra"/>
                <a:ea typeface="+mn-ea"/>
                <a:cs typeface="Calibri"/>
              </a:rPr>
              <a:t> </a:t>
            </a:r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rgbClr val="565656"/>
              </a:solidFill>
              <a:effectLst/>
              <a:uLnTx/>
              <a:uFillTx/>
              <a:latin typeface="Effra"/>
              <a:ea typeface="+mn-ea"/>
              <a:cs typeface="Calibri"/>
            </a:endParaRPr>
          </a:p>
        </p:txBody>
      </p:sp>
      <p:sp>
        <p:nvSpPr>
          <p:cNvPr id="10" name="Rectangle 9">
            <a:hlinkClick r:id="" action="ppaction://noaction"/>
            <a:extLst>
              <a:ext uri="{FF2B5EF4-FFF2-40B4-BE49-F238E27FC236}">
                <a16:creationId xmlns:a16="http://schemas.microsoft.com/office/drawing/2014/main" id="{6701E2AB-7917-34D8-8830-4E98270BCF5B}"/>
              </a:ext>
            </a:extLst>
          </p:cNvPr>
          <p:cNvSpPr/>
          <p:nvPr/>
        </p:nvSpPr>
        <p:spPr>
          <a:xfrm>
            <a:off x="279929" y="2363216"/>
            <a:ext cx="2080331" cy="27432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dirty="0">
                <a:solidFill>
                  <a:srgbClr val="565656"/>
                </a:solidFill>
                <a:latin typeface="Effra"/>
                <a:cs typeface="Calibri"/>
              </a:rPr>
              <a:t>Utilities Removal </a:t>
            </a: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Effra"/>
                <a:ea typeface="+mn-ea"/>
                <a:cs typeface="Calibri"/>
              </a:rPr>
              <a:t> </a:t>
            </a:r>
          </a:p>
        </p:txBody>
      </p:sp>
      <p:sp>
        <p:nvSpPr>
          <p:cNvPr id="11" name="Rectangle 10">
            <a:hlinkClick r:id="" action="ppaction://noaction"/>
            <a:extLst>
              <a:ext uri="{FF2B5EF4-FFF2-40B4-BE49-F238E27FC236}">
                <a16:creationId xmlns:a16="http://schemas.microsoft.com/office/drawing/2014/main" id="{ED98941D-89B2-6255-E25A-30D9EAD9F855}"/>
              </a:ext>
            </a:extLst>
          </p:cNvPr>
          <p:cNvSpPr/>
          <p:nvPr/>
        </p:nvSpPr>
        <p:spPr>
          <a:xfrm>
            <a:off x="286281" y="3241070"/>
            <a:ext cx="2395064" cy="27432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b="1" dirty="0">
                <a:solidFill>
                  <a:srgbClr val="565656"/>
                </a:solidFill>
                <a:latin typeface="Effra"/>
                <a:cs typeface="Calibri"/>
              </a:rPr>
              <a:t>NORTH to SOUTH  AICC</a:t>
            </a: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565656"/>
              </a:solidFill>
              <a:effectLst/>
              <a:uLnTx/>
              <a:uFillTx/>
              <a:latin typeface="Effra"/>
              <a:ea typeface="+mn-ea"/>
              <a:cs typeface="Calibri"/>
            </a:endParaRPr>
          </a:p>
        </p:txBody>
      </p:sp>
      <p:sp>
        <p:nvSpPr>
          <p:cNvPr id="12" name="Rectangle 11">
            <a:hlinkClick r:id="" action="ppaction://noaction"/>
            <a:extLst>
              <a:ext uri="{FF2B5EF4-FFF2-40B4-BE49-F238E27FC236}">
                <a16:creationId xmlns:a16="http://schemas.microsoft.com/office/drawing/2014/main" id="{54AB1B9F-3B4F-83A5-5737-B6A9AA7A182B}"/>
              </a:ext>
            </a:extLst>
          </p:cNvPr>
          <p:cNvSpPr/>
          <p:nvPr/>
        </p:nvSpPr>
        <p:spPr>
          <a:xfrm>
            <a:off x="279930" y="4236189"/>
            <a:ext cx="1828800" cy="27432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b="1" dirty="0">
                <a:solidFill>
                  <a:srgbClr val="565656"/>
                </a:solidFill>
                <a:latin typeface="Effra"/>
                <a:cs typeface="Calibri"/>
              </a:rPr>
              <a:t>PLATFORM SOUTH CHEC </a:t>
            </a: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565656"/>
              </a:solidFill>
              <a:effectLst/>
              <a:uLnTx/>
              <a:uFillTx/>
              <a:latin typeface="Effra"/>
              <a:ea typeface="+mn-ea"/>
              <a:cs typeface="Calibri"/>
            </a:endParaRPr>
          </a:p>
        </p:txBody>
      </p:sp>
      <p:sp>
        <p:nvSpPr>
          <p:cNvPr id="13" name="Rectangle 12">
            <a:hlinkClick r:id="" action="ppaction://noaction"/>
            <a:extLst>
              <a:ext uri="{FF2B5EF4-FFF2-40B4-BE49-F238E27FC236}">
                <a16:creationId xmlns:a16="http://schemas.microsoft.com/office/drawing/2014/main" id="{83EC6707-BB0B-68FD-AAC7-96E6D9BAEC57}"/>
              </a:ext>
            </a:extLst>
          </p:cNvPr>
          <p:cNvSpPr/>
          <p:nvPr/>
        </p:nvSpPr>
        <p:spPr>
          <a:xfrm>
            <a:off x="295708" y="2151826"/>
            <a:ext cx="2027261" cy="27432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dirty="0">
                <a:solidFill>
                  <a:srgbClr val="565656"/>
                </a:solidFill>
                <a:latin typeface="Effra"/>
                <a:cs typeface="Calibri"/>
              </a:rPr>
              <a:t>Permits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Effra"/>
                <a:ea typeface="+mn-ea"/>
                <a:cs typeface="Calibri"/>
              </a:rPr>
              <a:t> </a:t>
            </a:r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rgbClr val="565656"/>
              </a:solidFill>
              <a:effectLst/>
              <a:uLnTx/>
              <a:uFillTx/>
              <a:latin typeface="Effra"/>
              <a:ea typeface="+mn-ea"/>
              <a:cs typeface="Calibri"/>
            </a:endParaRPr>
          </a:p>
        </p:txBody>
      </p:sp>
      <p:sp>
        <p:nvSpPr>
          <p:cNvPr id="14" name="Rectangle 13">
            <a:hlinkClick r:id="" action="ppaction://noaction"/>
            <a:extLst>
              <a:ext uri="{FF2B5EF4-FFF2-40B4-BE49-F238E27FC236}">
                <a16:creationId xmlns:a16="http://schemas.microsoft.com/office/drawing/2014/main" id="{36637F7F-40D7-62ED-FC17-DDA7E1C6B8EA}"/>
              </a:ext>
            </a:extLst>
          </p:cNvPr>
          <p:cNvSpPr/>
          <p:nvPr/>
        </p:nvSpPr>
        <p:spPr>
          <a:xfrm>
            <a:off x="269172" y="3004058"/>
            <a:ext cx="2080331" cy="27432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dirty="0">
                <a:solidFill>
                  <a:srgbClr val="565656"/>
                </a:solidFill>
                <a:latin typeface="Effra"/>
                <a:cs typeface="Calibri"/>
              </a:rPr>
              <a:t>Backfill Link Road  </a:t>
            </a: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Effra"/>
                <a:ea typeface="+mn-ea"/>
                <a:cs typeface="Calibri"/>
              </a:rPr>
              <a:t> </a:t>
            </a:r>
          </a:p>
        </p:txBody>
      </p:sp>
      <p:sp>
        <p:nvSpPr>
          <p:cNvPr id="15" name="Rectangle 14">
            <a:hlinkClick r:id="" action="ppaction://noaction"/>
            <a:extLst>
              <a:ext uri="{FF2B5EF4-FFF2-40B4-BE49-F238E27FC236}">
                <a16:creationId xmlns:a16="http://schemas.microsoft.com/office/drawing/2014/main" id="{A3B81716-7B09-C737-42D5-04FD41CE07DC}"/>
              </a:ext>
            </a:extLst>
          </p:cNvPr>
          <p:cNvSpPr/>
          <p:nvPr/>
        </p:nvSpPr>
        <p:spPr>
          <a:xfrm>
            <a:off x="279930" y="3535963"/>
            <a:ext cx="2080331" cy="27432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dirty="0">
                <a:solidFill>
                  <a:srgbClr val="565656"/>
                </a:solidFill>
                <a:latin typeface="Effra"/>
                <a:cs typeface="Calibri"/>
              </a:rPr>
              <a:t>Hoarding &amp; Lighting   </a:t>
            </a: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Effra"/>
                <a:ea typeface="+mn-ea"/>
                <a:cs typeface="Calibri"/>
              </a:rPr>
              <a:t> </a:t>
            </a:r>
          </a:p>
        </p:txBody>
      </p:sp>
      <p:sp>
        <p:nvSpPr>
          <p:cNvPr id="16" name="Rectangle 15">
            <a:hlinkClick r:id="" action="ppaction://noaction"/>
            <a:extLst>
              <a:ext uri="{FF2B5EF4-FFF2-40B4-BE49-F238E27FC236}">
                <a16:creationId xmlns:a16="http://schemas.microsoft.com/office/drawing/2014/main" id="{6F7B5A91-95C1-8682-2E65-3BFF99C1E0F4}"/>
              </a:ext>
            </a:extLst>
          </p:cNvPr>
          <p:cNvSpPr/>
          <p:nvPr/>
        </p:nvSpPr>
        <p:spPr>
          <a:xfrm>
            <a:off x="283007" y="3382651"/>
            <a:ext cx="2080331" cy="27432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dirty="0">
                <a:solidFill>
                  <a:srgbClr val="565656"/>
                </a:solidFill>
                <a:latin typeface="Effra"/>
                <a:cs typeface="Calibri"/>
              </a:rPr>
              <a:t>Sub &amp; Asphalt incl. Ramp </a:t>
            </a: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Effra"/>
                <a:ea typeface="+mn-ea"/>
                <a:cs typeface="Calibri"/>
              </a:rPr>
              <a:t> </a:t>
            </a:r>
          </a:p>
        </p:txBody>
      </p:sp>
      <p:sp>
        <p:nvSpPr>
          <p:cNvPr id="17" name="Pentagon 33">
            <a:extLst>
              <a:ext uri="{FF2B5EF4-FFF2-40B4-BE49-F238E27FC236}">
                <a16:creationId xmlns:a16="http://schemas.microsoft.com/office/drawing/2014/main" id="{DD635E74-B235-9F7A-2A3E-FDC74699CD42}"/>
              </a:ext>
            </a:extLst>
          </p:cNvPr>
          <p:cNvSpPr/>
          <p:nvPr/>
        </p:nvSpPr>
        <p:spPr>
          <a:xfrm>
            <a:off x="2856938" y="2203801"/>
            <a:ext cx="1154353" cy="159352"/>
          </a:xfrm>
          <a:prstGeom prst="homePlate">
            <a:avLst/>
          </a:prstGeom>
          <a:solidFill>
            <a:srgbClr val="55152E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1" kern="0" dirty="0">
                <a:solidFill>
                  <a:sysClr val="window" lastClr="FFFFFF"/>
                </a:solidFill>
                <a:latin typeface="Effra Light" panose="02000306080000020004" pitchFamily="2" charset="0"/>
                <a:ea typeface="Calibri"/>
                <a:cs typeface="Calibri"/>
              </a:rPr>
              <a:t>Permits</a:t>
            </a:r>
            <a:endParaRPr kumimoji="0" lang="en-US" sz="7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Effra Light" panose="02000306080000020004" pitchFamily="2" charset="0"/>
              <a:ea typeface="Calibri"/>
              <a:cs typeface="Calibri"/>
            </a:endParaRPr>
          </a:p>
        </p:txBody>
      </p:sp>
      <p:sp>
        <p:nvSpPr>
          <p:cNvPr id="18" name="Pentagon 67">
            <a:extLst>
              <a:ext uri="{FF2B5EF4-FFF2-40B4-BE49-F238E27FC236}">
                <a16:creationId xmlns:a16="http://schemas.microsoft.com/office/drawing/2014/main" id="{98A39F6D-7D68-CFD8-3DFE-696D6536E6C5}"/>
              </a:ext>
            </a:extLst>
          </p:cNvPr>
          <p:cNvSpPr/>
          <p:nvPr/>
        </p:nvSpPr>
        <p:spPr>
          <a:xfrm>
            <a:off x="8502360" y="3325493"/>
            <a:ext cx="2605087" cy="193756"/>
          </a:xfrm>
          <a:prstGeom prst="homePlate">
            <a:avLst/>
          </a:prstGeom>
          <a:solidFill>
            <a:srgbClr val="D1744B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>
              <a:defRPr/>
            </a:pPr>
            <a:endParaRPr lang="en-US" sz="700" b="1" kern="0" dirty="0">
              <a:solidFill>
                <a:sysClr val="window" lastClr="FFFFFF"/>
              </a:solidFill>
              <a:latin typeface="Effra Light" panose="02000306080000020004" pitchFamily="2" charset="0"/>
              <a:ea typeface="Calibri"/>
              <a:cs typeface="Calibri"/>
            </a:endParaRPr>
          </a:p>
          <a:p>
            <a:pPr algn="ctr">
              <a:defRPr/>
            </a:pPr>
            <a:r>
              <a:rPr lang="en-US" sz="700" b="1" kern="0" dirty="0">
                <a:solidFill>
                  <a:sysClr val="window" lastClr="FFFFFF"/>
                </a:solidFill>
                <a:latin typeface="Effra Light" panose="02000306080000020004" pitchFamily="2" charset="0"/>
                <a:ea typeface="Calibri"/>
                <a:cs typeface="Calibri"/>
              </a:rPr>
              <a:t>Sub &amp; Asphalt incl. Ramp &amp; Street Lighting </a:t>
            </a:r>
          </a:p>
          <a:p>
            <a:pPr algn="ctr">
              <a:defRPr/>
            </a:pPr>
            <a:endParaRPr kumimoji="0" lang="en-US" sz="7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Effra Light"/>
              <a:cs typeface="Calibri"/>
              <a:sym typeface="+mn-lt"/>
            </a:endParaRPr>
          </a:p>
        </p:txBody>
      </p:sp>
      <p:sp>
        <p:nvSpPr>
          <p:cNvPr id="19" name="Pentagon 67">
            <a:extLst>
              <a:ext uri="{FF2B5EF4-FFF2-40B4-BE49-F238E27FC236}">
                <a16:creationId xmlns:a16="http://schemas.microsoft.com/office/drawing/2014/main" id="{13076E95-E456-E9DE-7A74-B1526E572057}"/>
              </a:ext>
            </a:extLst>
          </p:cNvPr>
          <p:cNvSpPr/>
          <p:nvPr/>
        </p:nvSpPr>
        <p:spPr>
          <a:xfrm>
            <a:off x="10638844" y="3577404"/>
            <a:ext cx="937206" cy="183227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>
              <a:defRPr/>
            </a:pPr>
            <a:r>
              <a:rPr kumimoji="0" lang="en-US" sz="7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Effra Light"/>
                <a:cs typeface="Calibri"/>
                <a:sym typeface="+mn-lt"/>
              </a:rPr>
              <a:t>Hoarding &amp; Lighting</a:t>
            </a:r>
          </a:p>
        </p:txBody>
      </p:sp>
      <p:sp>
        <p:nvSpPr>
          <p:cNvPr id="20" name="Pentagon 38">
            <a:extLst>
              <a:ext uri="{FF2B5EF4-FFF2-40B4-BE49-F238E27FC236}">
                <a16:creationId xmlns:a16="http://schemas.microsoft.com/office/drawing/2014/main" id="{8D42E180-8847-764C-212C-62B84D2915D0}"/>
              </a:ext>
            </a:extLst>
          </p:cNvPr>
          <p:cNvSpPr/>
          <p:nvPr/>
        </p:nvSpPr>
        <p:spPr>
          <a:xfrm>
            <a:off x="2549786" y="1506873"/>
            <a:ext cx="9333706" cy="157764"/>
          </a:xfrm>
          <a:prstGeom prst="homePlate">
            <a:avLst/>
          </a:prstGeom>
          <a:solidFill>
            <a:schemeClr val="accent2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kern="0" dirty="0">
                <a:solidFill>
                  <a:sysClr val="window" lastClr="FFFFFF"/>
                </a:solidFill>
                <a:latin typeface="Effra Light" panose="02000306080000020004" pitchFamily="2" charset="0"/>
                <a:ea typeface="Calibri"/>
                <a:cs typeface="Calibri"/>
              </a:rPr>
              <a:t>LINK ROAD Priority No 1 </a:t>
            </a: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Effra Light" panose="02000306080000020004" pitchFamily="2" charset="0"/>
                <a:ea typeface="Calibri"/>
                <a:cs typeface="Calibri"/>
              </a:rPr>
              <a:t> </a:t>
            </a:r>
          </a:p>
        </p:txBody>
      </p:sp>
      <p:sp>
        <p:nvSpPr>
          <p:cNvPr id="21" name="Rectangle 20">
            <a:hlinkClick r:id="" action="ppaction://noaction"/>
            <a:extLst>
              <a:ext uri="{FF2B5EF4-FFF2-40B4-BE49-F238E27FC236}">
                <a16:creationId xmlns:a16="http://schemas.microsoft.com/office/drawing/2014/main" id="{6CB9A43E-2A5B-3BE5-9BE3-4B9083574BA2}"/>
              </a:ext>
            </a:extLst>
          </p:cNvPr>
          <p:cNvSpPr/>
          <p:nvPr/>
        </p:nvSpPr>
        <p:spPr>
          <a:xfrm>
            <a:off x="286281" y="2594398"/>
            <a:ext cx="2080331" cy="27432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dirty="0">
                <a:solidFill>
                  <a:srgbClr val="565656"/>
                </a:solidFill>
                <a:latin typeface="Effra"/>
                <a:cs typeface="Calibri"/>
              </a:rPr>
              <a:t>Live Transformers Removal  </a:t>
            </a: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Effra"/>
                <a:ea typeface="+mn-ea"/>
                <a:cs typeface="Calibri"/>
              </a:rPr>
              <a:t> </a:t>
            </a:r>
          </a:p>
        </p:txBody>
      </p:sp>
      <p:sp>
        <p:nvSpPr>
          <p:cNvPr id="22" name="Pentagon 33">
            <a:extLst>
              <a:ext uri="{FF2B5EF4-FFF2-40B4-BE49-F238E27FC236}">
                <a16:creationId xmlns:a16="http://schemas.microsoft.com/office/drawing/2014/main" id="{D0BA453A-9EE5-7D73-7CB4-36CC44332EB0}"/>
              </a:ext>
            </a:extLst>
          </p:cNvPr>
          <p:cNvSpPr/>
          <p:nvPr/>
        </p:nvSpPr>
        <p:spPr>
          <a:xfrm>
            <a:off x="4072861" y="2633606"/>
            <a:ext cx="7360239" cy="170822"/>
          </a:xfrm>
          <a:prstGeom prst="homePlate">
            <a:avLst/>
          </a:prstGeom>
          <a:solidFill>
            <a:srgbClr val="55152E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Effra Light" panose="02000306080000020004" pitchFamily="2" charset="0"/>
                <a:ea typeface="Calibri"/>
                <a:cs typeface="Calibri"/>
              </a:rPr>
              <a:t>Live Transformers Removal </a:t>
            </a:r>
          </a:p>
        </p:txBody>
      </p:sp>
      <p:sp>
        <p:nvSpPr>
          <p:cNvPr id="23" name="Rectangle 22">
            <a:hlinkClick r:id="" action="ppaction://noaction"/>
            <a:extLst>
              <a:ext uri="{FF2B5EF4-FFF2-40B4-BE49-F238E27FC236}">
                <a16:creationId xmlns:a16="http://schemas.microsoft.com/office/drawing/2014/main" id="{81E9AA9C-4206-F2E7-9D77-07E37351ED40}"/>
              </a:ext>
            </a:extLst>
          </p:cNvPr>
          <p:cNvSpPr/>
          <p:nvPr/>
        </p:nvSpPr>
        <p:spPr>
          <a:xfrm>
            <a:off x="286281" y="2805158"/>
            <a:ext cx="2080331" cy="27432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dirty="0">
                <a:solidFill>
                  <a:srgbClr val="565656"/>
                </a:solidFill>
                <a:latin typeface="Effra"/>
                <a:cs typeface="Calibri"/>
              </a:rPr>
              <a:t>Access Road   </a:t>
            </a: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Effra"/>
                <a:ea typeface="+mn-ea"/>
                <a:cs typeface="Calibri"/>
              </a:rPr>
              <a:t> </a:t>
            </a:r>
          </a:p>
        </p:txBody>
      </p:sp>
      <p:sp>
        <p:nvSpPr>
          <p:cNvPr id="24" name="Pentagon 67">
            <a:extLst>
              <a:ext uri="{FF2B5EF4-FFF2-40B4-BE49-F238E27FC236}">
                <a16:creationId xmlns:a16="http://schemas.microsoft.com/office/drawing/2014/main" id="{8B3D99C7-7CC6-0834-CBEF-81F55722C130}"/>
              </a:ext>
            </a:extLst>
          </p:cNvPr>
          <p:cNvSpPr/>
          <p:nvPr/>
        </p:nvSpPr>
        <p:spPr>
          <a:xfrm>
            <a:off x="4072862" y="2888039"/>
            <a:ext cx="317638" cy="146989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>
              <a:defRPr/>
            </a:pPr>
            <a:br>
              <a:rPr lang="en-US" sz="700" b="1" kern="0" dirty="0">
                <a:solidFill>
                  <a:sysClr val="window" lastClr="FFFFFF"/>
                </a:solidFill>
                <a:latin typeface="Effra Light" panose="02000306080000020004" pitchFamily="2" charset="0"/>
                <a:ea typeface="Calibri"/>
                <a:cs typeface="Calibri"/>
              </a:rPr>
            </a:br>
            <a:r>
              <a:rPr lang="en-US" sz="700" b="1" kern="0" dirty="0">
                <a:solidFill>
                  <a:sysClr val="window" lastClr="FFFFFF"/>
                </a:solidFill>
                <a:latin typeface="Effra Light" panose="02000306080000020004" pitchFamily="2" charset="0"/>
                <a:ea typeface="Calibri"/>
                <a:cs typeface="Calibri"/>
              </a:rPr>
              <a:t>Access  </a:t>
            </a:r>
          </a:p>
          <a:p>
            <a:pPr algn="ctr">
              <a:defRPr/>
            </a:pPr>
            <a:endParaRPr kumimoji="0" lang="en-US" sz="7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Effra Light"/>
              <a:cs typeface="Calibri"/>
              <a:sym typeface="+mn-lt"/>
            </a:endParaRPr>
          </a:p>
        </p:txBody>
      </p:sp>
      <p:sp>
        <p:nvSpPr>
          <p:cNvPr id="26" name="Rectangle 25">
            <a:hlinkClick r:id="" action="ppaction://noaction"/>
            <a:extLst>
              <a:ext uri="{FF2B5EF4-FFF2-40B4-BE49-F238E27FC236}">
                <a16:creationId xmlns:a16="http://schemas.microsoft.com/office/drawing/2014/main" id="{96F98D96-99BD-8B56-9D57-1D83D0E61DEC}"/>
              </a:ext>
            </a:extLst>
          </p:cNvPr>
          <p:cNvSpPr/>
          <p:nvPr/>
        </p:nvSpPr>
        <p:spPr>
          <a:xfrm>
            <a:off x="269172" y="4386754"/>
            <a:ext cx="2080331" cy="27432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dirty="0">
                <a:solidFill>
                  <a:srgbClr val="565656"/>
                </a:solidFill>
                <a:latin typeface="Effra"/>
                <a:cs typeface="Calibri"/>
              </a:rPr>
              <a:t>Backfill &amp; Subgrade    </a:t>
            </a:r>
            <a:r>
              <a:rPr kumimoji="0" lang="en-GB" sz="800" b="0" i="0" u="none" strike="noStrike" kern="120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Effra"/>
                <a:ea typeface="+mn-ea"/>
                <a:cs typeface="Calibri"/>
              </a:rPr>
              <a:t>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0664D50-BC29-4DB7-5057-C9A1ADE1FCDC}"/>
              </a:ext>
            </a:extLst>
          </p:cNvPr>
          <p:cNvSpPr txBox="1"/>
          <p:nvPr/>
        </p:nvSpPr>
        <p:spPr>
          <a:xfrm>
            <a:off x="11493567" y="1653780"/>
            <a:ext cx="47148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kern="0" dirty="0">
                <a:latin typeface="Effra Light" panose="02000306080000020004" pitchFamily="2" charset="0"/>
                <a:cs typeface="Calibri"/>
              </a:rPr>
              <a:t>54D</a:t>
            </a:r>
            <a:endParaRPr lang="en-US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8D9CC6E-4283-FE00-8E47-E46E459B2106}"/>
              </a:ext>
            </a:extLst>
          </p:cNvPr>
          <p:cNvSpPr txBox="1"/>
          <p:nvPr/>
        </p:nvSpPr>
        <p:spPr>
          <a:xfrm>
            <a:off x="3041096" y="1942975"/>
            <a:ext cx="47148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kern="0" dirty="0">
                <a:latin typeface="Effra Light" panose="02000306080000020004" pitchFamily="2" charset="0"/>
                <a:cs typeface="Calibri"/>
              </a:rPr>
              <a:t>3D</a:t>
            </a:r>
            <a:endParaRPr lang="en-US" sz="1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CF1A719-7ADD-D6B0-5E1F-989DCCD85BCD}"/>
              </a:ext>
            </a:extLst>
          </p:cNvPr>
          <p:cNvSpPr txBox="1"/>
          <p:nvPr/>
        </p:nvSpPr>
        <p:spPr>
          <a:xfrm>
            <a:off x="3958293" y="2174592"/>
            <a:ext cx="47148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kern="0" dirty="0">
                <a:latin typeface="Effra Light" panose="02000306080000020004" pitchFamily="2" charset="0"/>
                <a:cs typeface="Calibri"/>
              </a:rPr>
              <a:t>6D</a:t>
            </a:r>
            <a:endParaRPr lang="en-US" sz="1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F2F3808-7F20-B0FA-B8F5-2DF4AC91D182}"/>
              </a:ext>
            </a:extLst>
          </p:cNvPr>
          <p:cNvSpPr txBox="1"/>
          <p:nvPr/>
        </p:nvSpPr>
        <p:spPr>
          <a:xfrm>
            <a:off x="5860256" y="2400722"/>
            <a:ext cx="47148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kern="0" dirty="0">
                <a:latin typeface="Effra Light" panose="02000306080000020004" pitchFamily="2" charset="0"/>
                <a:cs typeface="Calibri"/>
              </a:rPr>
              <a:t>10D</a:t>
            </a:r>
            <a:endParaRPr lang="en-US" sz="1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87EBAE-539D-1520-4550-5B249653E54F}"/>
              </a:ext>
            </a:extLst>
          </p:cNvPr>
          <p:cNvSpPr txBox="1"/>
          <p:nvPr/>
        </p:nvSpPr>
        <p:spPr>
          <a:xfrm>
            <a:off x="4330033" y="2847608"/>
            <a:ext cx="47148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kern="0" dirty="0">
                <a:latin typeface="Effra Light" panose="02000306080000020004" pitchFamily="2" charset="0"/>
                <a:cs typeface="Calibri"/>
              </a:rPr>
              <a:t>1D</a:t>
            </a:r>
            <a:endParaRPr lang="en-US" sz="1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DD42078-B4C7-4A41-2C02-2834AFA35DCC}"/>
              </a:ext>
            </a:extLst>
          </p:cNvPr>
          <p:cNvSpPr txBox="1"/>
          <p:nvPr/>
        </p:nvSpPr>
        <p:spPr>
          <a:xfrm>
            <a:off x="8444516" y="3034262"/>
            <a:ext cx="47148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kern="0" dirty="0">
                <a:latin typeface="Effra Light" panose="02000306080000020004" pitchFamily="2" charset="0"/>
                <a:cs typeface="Calibri"/>
              </a:rPr>
              <a:t>24D</a:t>
            </a:r>
            <a:endParaRPr lang="en-US" sz="1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376FAE7-8B99-0347-32BA-B0AA76AFECFC}"/>
              </a:ext>
            </a:extLst>
          </p:cNvPr>
          <p:cNvSpPr txBox="1"/>
          <p:nvPr/>
        </p:nvSpPr>
        <p:spPr>
          <a:xfrm>
            <a:off x="11043877" y="3292053"/>
            <a:ext cx="47148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kern="0" dirty="0">
                <a:latin typeface="Effra Light" panose="02000306080000020004" pitchFamily="2" charset="0"/>
                <a:cs typeface="Calibri"/>
              </a:rPr>
              <a:t>15D</a:t>
            </a:r>
            <a:endParaRPr lang="en-US" sz="1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3FEA40E-1440-894A-44B8-022D9DDACDD3}"/>
              </a:ext>
            </a:extLst>
          </p:cNvPr>
          <p:cNvSpPr txBox="1"/>
          <p:nvPr/>
        </p:nvSpPr>
        <p:spPr>
          <a:xfrm>
            <a:off x="11515364" y="3539102"/>
            <a:ext cx="47148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kern="0" dirty="0">
                <a:latin typeface="Effra Light" panose="02000306080000020004" pitchFamily="2" charset="0"/>
                <a:cs typeface="Calibri"/>
              </a:rPr>
              <a:t>5D</a:t>
            </a:r>
            <a:endParaRPr lang="en-US" sz="10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C17E6E9-C2EC-5CE7-9BAA-E8714CA1575A}"/>
              </a:ext>
            </a:extLst>
          </p:cNvPr>
          <p:cNvSpPr txBox="1"/>
          <p:nvPr/>
        </p:nvSpPr>
        <p:spPr>
          <a:xfrm>
            <a:off x="10607611" y="4314249"/>
            <a:ext cx="47148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kern="0" dirty="0">
                <a:latin typeface="Effra Light" panose="02000306080000020004" pitchFamily="2" charset="0"/>
                <a:cs typeface="Calibri"/>
              </a:rPr>
              <a:t>25D</a:t>
            </a:r>
            <a:endParaRPr lang="en-US" sz="1000" dirty="0"/>
          </a:p>
        </p:txBody>
      </p:sp>
      <p:sp>
        <p:nvSpPr>
          <p:cNvPr id="38" name="Pentagon 33">
            <a:extLst>
              <a:ext uri="{FF2B5EF4-FFF2-40B4-BE49-F238E27FC236}">
                <a16:creationId xmlns:a16="http://schemas.microsoft.com/office/drawing/2014/main" id="{62E16010-AFB7-FF40-2712-B077541D9EF6}"/>
              </a:ext>
            </a:extLst>
          </p:cNvPr>
          <p:cNvSpPr/>
          <p:nvPr/>
        </p:nvSpPr>
        <p:spPr>
          <a:xfrm>
            <a:off x="2549786" y="1740649"/>
            <a:ext cx="1684487" cy="159352"/>
          </a:xfrm>
          <a:prstGeom prst="homePlate">
            <a:avLst/>
          </a:prstGeom>
          <a:solidFill>
            <a:srgbClr val="55152E"/>
          </a:solid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Effra Light" panose="02000306080000020004" pitchFamily="2" charset="0"/>
                <a:ea typeface="Calibri"/>
                <a:cs typeface="Calibri"/>
              </a:rPr>
              <a:t>AICC Early Works </a:t>
            </a:r>
          </a:p>
        </p:txBody>
      </p:sp>
      <p:sp>
        <p:nvSpPr>
          <p:cNvPr id="39" name="Rectangle 38">
            <a:hlinkClick r:id="" action="ppaction://noaction"/>
            <a:extLst>
              <a:ext uri="{FF2B5EF4-FFF2-40B4-BE49-F238E27FC236}">
                <a16:creationId xmlns:a16="http://schemas.microsoft.com/office/drawing/2014/main" id="{00A9E66C-C789-4831-1863-E206BC6AEFB6}"/>
              </a:ext>
            </a:extLst>
          </p:cNvPr>
          <p:cNvSpPr/>
          <p:nvPr/>
        </p:nvSpPr>
        <p:spPr>
          <a:xfrm>
            <a:off x="295708" y="1654001"/>
            <a:ext cx="2027261" cy="27432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Effra"/>
                <a:ea typeface="+mn-ea"/>
                <a:cs typeface="Calibri"/>
              </a:rPr>
              <a:t>AICC</a:t>
            </a: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Effra"/>
                <a:ea typeface="+mn-ea"/>
                <a:cs typeface="Calibri"/>
              </a:rPr>
              <a:t> Early Works / Backfill Trial Pits </a:t>
            </a:r>
            <a:b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Effra"/>
                <a:ea typeface="+mn-ea"/>
                <a:cs typeface="Calibri"/>
              </a:rPr>
            </a:b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Effra"/>
                <a:ea typeface="+mn-ea"/>
                <a:cs typeface="Calibri"/>
              </a:rPr>
              <a:t>Site Clearance </a:t>
            </a:r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rgbClr val="565656"/>
              </a:solidFill>
              <a:effectLst/>
              <a:uLnTx/>
              <a:uFillTx/>
              <a:latin typeface="Effra"/>
              <a:ea typeface="+mn-ea"/>
              <a:cs typeface="Calibri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DA52248-033D-C232-1583-74072CA6F774}"/>
              </a:ext>
            </a:extLst>
          </p:cNvPr>
          <p:cNvSpPr txBox="1"/>
          <p:nvPr/>
        </p:nvSpPr>
        <p:spPr>
          <a:xfrm>
            <a:off x="4181880" y="1701838"/>
            <a:ext cx="39101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b="1" kern="0" dirty="0">
                <a:latin typeface="Effra Light" panose="02000306080000020004" pitchFamily="2" charset="0"/>
                <a:cs typeface="Calibri"/>
              </a:rPr>
              <a:t>9D</a:t>
            </a:r>
            <a:endParaRPr lang="en-US" sz="1000" dirty="0"/>
          </a:p>
        </p:txBody>
      </p:sp>
      <p:sp>
        <p:nvSpPr>
          <p:cNvPr id="41" name="Rectangle 40">
            <a:hlinkClick r:id="" action="ppaction://noaction"/>
            <a:extLst>
              <a:ext uri="{FF2B5EF4-FFF2-40B4-BE49-F238E27FC236}">
                <a16:creationId xmlns:a16="http://schemas.microsoft.com/office/drawing/2014/main" id="{FAB0D0C6-72E4-924C-4CA7-DCC3ADC6518F}"/>
              </a:ext>
            </a:extLst>
          </p:cNvPr>
          <p:cNvSpPr/>
          <p:nvPr/>
        </p:nvSpPr>
        <p:spPr>
          <a:xfrm>
            <a:off x="276853" y="3692028"/>
            <a:ext cx="2080331" cy="27432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0" i="0" u="none" strike="noStrike" kern="120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Effra"/>
                <a:ea typeface="+mn-ea"/>
                <a:cs typeface="Calibri"/>
              </a:rPr>
              <a:t>Flip Access </a:t>
            </a:r>
            <a:endParaRPr kumimoji="0" lang="en-GB" sz="800" b="0" i="0" u="none" strike="noStrike" kern="1200" cap="none" spc="0" normalizeH="0" baseline="0" noProof="0" dirty="0">
              <a:ln>
                <a:noFill/>
              </a:ln>
              <a:solidFill>
                <a:srgbClr val="565656"/>
              </a:solidFill>
              <a:effectLst/>
              <a:uLnTx/>
              <a:uFillTx/>
              <a:latin typeface="Effra"/>
              <a:ea typeface="+mn-ea"/>
              <a:cs typeface="Calibri"/>
            </a:endParaRPr>
          </a:p>
        </p:txBody>
      </p:sp>
      <p:sp>
        <p:nvSpPr>
          <p:cNvPr id="42" name="Rectangle 41">
            <a:hlinkClick r:id="" action="ppaction://noaction"/>
            <a:extLst>
              <a:ext uri="{FF2B5EF4-FFF2-40B4-BE49-F238E27FC236}">
                <a16:creationId xmlns:a16="http://schemas.microsoft.com/office/drawing/2014/main" id="{C7CF270C-3D10-9791-2D10-F3D1658CA47F}"/>
              </a:ext>
            </a:extLst>
          </p:cNvPr>
          <p:cNvSpPr/>
          <p:nvPr/>
        </p:nvSpPr>
        <p:spPr>
          <a:xfrm>
            <a:off x="286078" y="3874573"/>
            <a:ext cx="2080331" cy="274320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000" dirty="0">
                <a:solidFill>
                  <a:srgbClr val="565656"/>
                </a:solidFill>
                <a:latin typeface="Effra"/>
                <a:cs typeface="Calibri"/>
              </a:rPr>
              <a:t>Wayfinding </a:t>
            </a:r>
            <a:r>
              <a:rPr lang="en-GB" sz="1000" b="1" dirty="0">
                <a:solidFill>
                  <a:srgbClr val="565656"/>
                </a:solidFill>
                <a:latin typeface="Effra"/>
                <a:cs typeface="Calibri"/>
              </a:rPr>
              <a:t>Al Saab </a:t>
            </a:r>
            <a:r>
              <a:rPr kumimoji="0" lang="en-GB" sz="1000" b="1" i="0" u="none" strike="noStrike" kern="1200" cap="none" spc="0" normalizeH="0" baseline="0" noProof="0" dirty="0">
                <a:ln>
                  <a:noFill/>
                </a:ln>
                <a:solidFill>
                  <a:srgbClr val="565656"/>
                </a:solidFill>
                <a:effectLst/>
                <a:uLnTx/>
                <a:uFillTx/>
                <a:latin typeface="Effra"/>
                <a:ea typeface="+mn-ea"/>
                <a:cs typeface="Calibri"/>
              </a:rPr>
              <a:t> </a:t>
            </a:r>
            <a:endParaRPr kumimoji="0" lang="en-GB" sz="800" b="1" i="0" u="none" strike="noStrike" kern="1200" cap="none" spc="0" normalizeH="0" baseline="0" noProof="0" dirty="0">
              <a:ln>
                <a:noFill/>
              </a:ln>
              <a:solidFill>
                <a:srgbClr val="565656"/>
              </a:solidFill>
              <a:effectLst/>
              <a:uLnTx/>
              <a:uFillTx/>
              <a:latin typeface="Effra"/>
              <a:ea typeface="+mn-ea"/>
              <a:cs typeface="Calibri"/>
            </a:endParaRP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EA96931-4414-F0D6-A8FA-1D4EBC9ABC5E}"/>
              </a:ext>
            </a:extLst>
          </p:cNvPr>
          <p:cNvCxnSpPr>
            <a:stCxn id="29" idx="1"/>
          </p:cNvCxnSpPr>
          <p:nvPr/>
        </p:nvCxnSpPr>
        <p:spPr>
          <a:xfrm flipV="1">
            <a:off x="3958293" y="2280745"/>
            <a:ext cx="2715776" cy="16958"/>
          </a:xfrm>
          <a:prstGeom prst="straightConnector1">
            <a:avLst/>
          </a:prstGeom>
          <a:ln w="28575">
            <a:solidFill>
              <a:srgbClr val="FF00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D35B4F3-97C3-1A96-4608-2E9DD17C6BBD}"/>
              </a:ext>
            </a:extLst>
          </p:cNvPr>
          <p:cNvCxnSpPr/>
          <p:nvPr/>
        </p:nvCxnSpPr>
        <p:spPr>
          <a:xfrm>
            <a:off x="6674069" y="3223249"/>
            <a:ext cx="1770447" cy="0"/>
          </a:xfrm>
          <a:prstGeom prst="straightConnector1">
            <a:avLst/>
          </a:prstGeom>
          <a:ln w="31750">
            <a:solidFill>
              <a:srgbClr val="FF00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Hexagon 44">
            <a:extLst>
              <a:ext uri="{FF2B5EF4-FFF2-40B4-BE49-F238E27FC236}">
                <a16:creationId xmlns:a16="http://schemas.microsoft.com/office/drawing/2014/main" id="{93F82A8C-DFFB-FEFA-5B96-5F4DB5DC9D23}"/>
              </a:ext>
            </a:extLst>
          </p:cNvPr>
          <p:cNvSpPr/>
          <p:nvPr/>
        </p:nvSpPr>
        <p:spPr>
          <a:xfrm>
            <a:off x="6686225" y="2153923"/>
            <a:ext cx="223587" cy="203606"/>
          </a:xfrm>
          <a:prstGeom prst="hexagon">
            <a:avLst/>
          </a:prstGeom>
          <a:solidFill>
            <a:srgbClr val="FF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Hexagon 45">
            <a:extLst>
              <a:ext uri="{FF2B5EF4-FFF2-40B4-BE49-F238E27FC236}">
                <a16:creationId xmlns:a16="http://schemas.microsoft.com/office/drawing/2014/main" id="{FF592A2D-1420-1555-0585-E30995FA6D99}"/>
              </a:ext>
            </a:extLst>
          </p:cNvPr>
          <p:cNvSpPr/>
          <p:nvPr/>
        </p:nvSpPr>
        <p:spPr>
          <a:xfrm>
            <a:off x="8758234" y="3055569"/>
            <a:ext cx="223587" cy="203606"/>
          </a:xfrm>
          <a:prstGeom prst="hexagon">
            <a:avLst/>
          </a:prstGeom>
          <a:solidFill>
            <a:srgbClr val="FF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3931439B-7038-C57C-AA86-65211EC357BE}"/>
              </a:ext>
            </a:extLst>
          </p:cNvPr>
          <p:cNvCxnSpPr/>
          <p:nvPr/>
        </p:nvCxnSpPr>
        <p:spPr>
          <a:xfrm>
            <a:off x="10015442" y="1942975"/>
            <a:ext cx="0" cy="1817656"/>
          </a:xfrm>
          <a:prstGeom prst="straightConnector1">
            <a:avLst/>
          </a:prstGeom>
          <a:ln w="41275">
            <a:solidFill>
              <a:srgbClr val="FF000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1486470"/>
      </p:ext>
    </p:extLst>
  </p:cSld>
  <p:clrMapOvr>
    <a:masterClrMapping/>
  </p:clrMapOvr>
  <p:transition spd="med"/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9573215-7ee1-4046-91b1-e9db1fe7d7ba">
      <Terms xmlns="http://schemas.microsoft.com/office/infopath/2007/PartnerControls"/>
    </lcf76f155ced4ddcb4097134ff3c332f>
    <TaxCatchAll xmlns="159dd821-2838-40ff-9b35-27d8e516815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3CAA4299EA94E49BFA8A00ADFEC4334" ma:contentTypeVersion="15" ma:contentTypeDescription="Create a new document." ma:contentTypeScope="" ma:versionID="36588a99efc05334f3b40b5fa7afb26f">
  <xsd:schema xmlns:xsd="http://www.w3.org/2001/XMLSchema" xmlns:xs="http://www.w3.org/2001/XMLSchema" xmlns:p="http://schemas.microsoft.com/office/2006/metadata/properties" xmlns:ns2="c9573215-7ee1-4046-91b1-e9db1fe7d7ba" xmlns:ns3="159dd821-2838-40ff-9b35-27d8e516815e" targetNamespace="http://schemas.microsoft.com/office/2006/metadata/properties" ma:root="true" ma:fieldsID="c1cb7cf7f0227ff5c22de824b2f1f33d" ns2:_="" ns3:_="">
    <xsd:import namespace="c9573215-7ee1-4046-91b1-e9db1fe7d7ba"/>
    <xsd:import namespace="159dd821-2838-40ff-9b35-27d8e516815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573215-7ee1-4046-91b1-e9db1fe7d7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e41e0122-245e-454d-8481-5a6e16acd27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9dd821-2838-40ff-9b35-27d8e516815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be80a9ca-6405-47f9-a8d3-786192d59599}" ma:internalName="TaxCatchAll" ma:showField="CatchAllData" ma:web="159dd821-2838-40ff-9b35-27d8e516815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4F7AF2B-8A67-4E92-A5BB-FB4E7A438F69}">
  <ds:schemaRefs>
    <ds:schemaRef ds:uri="http://schemas.microsoft.com/office/2006/metadata/properties"/>
    <ds:schemaRef ds:uri="http://schemas.microsoft.com/office/infopath/2007/PartnerControls"/>
    <ds:schemaRef ds:uri="c9573215-7ee1-4046-91b1-e9db1fe7d7ba"/>
    <ds:schemaRef ds:uri="159dd821-2838-40ff-9b35-27d8e516815e"/>
  </ds:schemaRefs>
</ds:datastoreItem>
</file>

<file path=customXml/itemProps2.xml><?xml version="1.0" encoding="utf-8"?>
<ds:datastoreItem xmlns:ds="http://schemas.openxmlformats.org/officeDocument/2006/customXml" ds:itemID="{644374DC-4EE2-4919-AB50-3CF0D016C2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1B99797-BC78-4D5C-9E73-8F697947EEB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573215-7ee1-4046-91b1-e9db1fe7d7ba"/>
    <ds:schemaRef ds:uri="159dd821-2838-40ff-9b35-27d8e516815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8046b875-ca4e-4943-93d8-e3f08cd70a2b}" enabled="1" method="Privileged" siteId="{9e52d672-a711-4a65-ad96-286a3703d96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2648</TotalTime>
  <Words>99</Words>
  <Application>Microsoft Office PowerPoint</Application>
  <PresentationFormat>Widescreen</PresentationFormat>
  <Paragraphs>38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Aptos Display</vt:lpstr>
      <vt:lpstr>Arial</vt:lpstr>
      <vt:lpstr>Cairo</vt:lpstr>
      <vt:lpstr>Calibri</vt:lpstr>
      <vt:lpstr>Effra</vt:lpstr>
      <vt:lpstr>Effra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Shener Dursun</dc:creator>
  <cp:lastModifiedBy>Clive Walsh</cp:lastModifiedBy>
  <cp:revision>10</cp:revision>
  <cp:lastPrinted>2025-07-03T06:54:55Z</cp:lastPrinted>
  <dcterms:created xsi:type="dcterms:W3CDTF">2024-11-06T06:20:10Z</dcterms:created>
  <dcterms:modified xsi:type="dcterms:W3CDTF">2025-07-29T04:47:58Z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7a1b435-f934-41ff-9595-4525aedc2225_Enabled">
    <vt:lpwstr>true</vt:lpwstr>
  </property>
  <property fmtid="{D5CDD505-2E9C-101B-9397-08002B2CF9AE}" pid="3" name="MSIP_Label_77a1b435-f934-41ff-9595-4525aedc2225_SetDate">
    <vt:lpwstr>2024-11-06T06:21:15Z</vt:lpwstr>
  </property>
  <property fmtid="{D5CDD505-2E9C-101B-9397-08002B2CF9AE}" pid="4" name="MSIP_Label_77a1b435-f934-41ff-9595-4525aedc2225_Method">
    <vt:lpwstr>Privileged</vt:lpwstr>
  </property>
  <property fmtid="{D5CDD505-2E9C-101B-9397-08002B2CF9AE}" pid="5" name="MSIP_Label_77a1b435-f934-41ff-9595-4525aedc2225_Name">
    <vt:lpwstr>Internal</vt:lpwstr>
  </property>
  <property fmtid="{D5CDD505-2E9C-101B-9397-08002B2CF9AE}" pid="6" name="MSIP_Label_77a1b435-f934-41ff-9595-4525aedc2225_SiteId">
    <vt:lpwstr>d4c9706e-143f-4bfd-876b-b25d18e0287e</vt:lpwstr>
  </property>
  <property fmtid="{D5CDD505-2E9C-101B-9397-08002B2CF9AE}" pid="7" name="MSIP_Label_77a1b435-f934-41ff-9595-4525aedc2225_ActionId">
    <vt:lpwstr>5d7cb780-5c2f-41ba-991a-88b2e11afd08</vt:lpwstr>
  </property>
  <property fmtid="{D5CDD505-2E9C-101B-9397-08002B2CF9AE}" pid="8" name="MSIP_Label_77a1b435-f934-41ff-9595-4525aedc2225_ContentBits">
    <vt:lpwstr>2</vt:lpwstr>
  </property>
  <property fmtid="{D5CDD505-2E9C-101B-9397-08002B2CF9AE}" pid="9" name="ClassificationContentMarkingFooterLocations">
    <vt:lpwstr>Office Theme:8</vt:lpwstr>
  </property>
  <property fmtid="{D5CDD505-2E9C-101B-9397-08002B2CF9AE}" pid="10" name="ClassificationContentMarkingFooterText">
    <vt:lpwstr>Information Classification: Internal</vt:lpwstr>
  </property>
  <property fmtid="{D5CDD505-2E9C-101B-9397-08002B2CF9AE}" pid="11" name="MSIP_Label_8046b875-ca4e-4943-93d8-e3f08cd70a2b_Enabled">
    <vt:lpwstr>true</vt:lpwstr>
  </property>
  <property fmtid="{D5CDD505-2E9C-101B-9397-08002B2CF9AE}" pid="12" name="MSIP_Label_8046b875-ca4e-4943-93d8-e3f08cd70a2b_SetDate">
    <vt:lpwstr>2024-11-06T07:02:45Z</vt:lpwstr>
  </property>
  <property fmtid="{D5CDD505-2E9C-101B-9397-08002B2CF9AE}" pid="13" name="MSIP_Label_8046b875-ca4e-4943-93d8-e3f08cd70a2b_Method">
    <vt:lpwstr>Privileged</vt:lpwstr>
  </property>
  <property fmtid="{D5CDD505-2E9C-101B-9397-08002B2CF9AE}" pid="14" name="MSIP_Label_8046b875-ca4e-4943-93d8-e3f08cd70a2b_Name">
    <vt:lpwstr>Third-party confidential</vt:lpwstr>
  </property>
  <property fmtid="{D5CDD505-2E9C-101B-9397-08002B2CF9AE}" pid="15" name="MSIP_Label_8046b875-ca4e-4943-93d8-e3f08cd70a2b_SiteId">
    <vt:lpwstr>9e52d672-a711-4a65-ad96-286a3703d96e</vt:lpwstr>
  </property>
  <property fmtid="{D5CDD505-2E9C-101B-9397-08002B2CF9AE}" pid="16" name="MSIP_Label_8046b875-ca4e-4943-93d8-e3f08cd70a2b_ActionId">
    <vt:lpwstr>3e2fa07f-27a3-4a4b-80ed-2127f1ed16eb</vt:lpwstr>
  </property>
  <property fmtid="{D5CDD505-2E9C-101B-9397-08002B2CF9AE}" pid="17" name="MSIP_Label_8046b875-ca4e-4943-93d8-e3f08cd70a2b_ContentBits">
    <vt:lpwstr>0</vt:lpwstr>
  </property>
  <property fmtid="{D5CDD505-2E9C-101B-9397-08002B2CF9AE}" pid="18" name="ContentTypeId">
    <vt:lpwstr>0x01010043CAA4299EA94E49BFA8A00ADFEC4334</vt:lpwstr>
  </property>
  <property fmtid="{D5CDD505-2E9C-101B-9397-08002B2CF9AE}" pid="19" name="MediaServiceImageTags">
    <vt:lpwstr/>
  </property>
</Properties>
</file>